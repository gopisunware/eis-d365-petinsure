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8D4"/>
                </a:solidFill>
              </a:defRPr>
            </a:pPr>
            <a:r>
              <a:t>EIS-Dynamics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AI-Powered Claims Processing for Data Architects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Azure Services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1828800" cy="64008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Customer Portal</a:t>
            </a:r>
            <a:br/>
            <a:r>
              <a:t>React :3001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920240"/>
            <a:ext cx="1828800" cy="64008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Agent Portal</a:t>
            </a:r>
            <a:br/>
            <a:r>
              <a:t>Next.js :3000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371600"/>
            <a:ext cx="2011680" cy="914400"/>
          </a:xfrm>
          <a:prstGeom prst="round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Unified API</a:t>
            </a:r>
            <a:br/>
            <a:r>
              <a:t>FastAPI :8000</a:t>
            </a:r>
            <a:br/>
            <a:r>
              <a:t>60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914400"/>
            <a:ext cx="11887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1188720" cy="502920"/>
          </a:xfrm>
          <a:prstGeom prst="round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Bronze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194560"/>
            <a:ext cx="1188720" cy="50292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Silver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834640"/>
            <a:ext cx="1188720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Gold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914400"/>
            <a:ext cx="164592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OpenAI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645920"/>
            <a:ext cx="164592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Cosmos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377440"/>
            <a:ext cx="164592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Service Bus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280160"/>
            <a:ext cx="14630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Key Vault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011680"/>
            <a:ext cx="14630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Blob Storage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743200"/>
            <a:ext cx="1463040" cy="548640"/>
          </a:xfrm>
          <a:prstGeom prst="roundRect">
            <a:avLst/>
          </a:prstGeom>
          <a:solidFill>
            <a:srgbClr val="742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Dataverse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840480"/>
            <a:ext cx="164592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ADLS Gen2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3840480"/>
            <a:ext cx="164592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Databricks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3840480"/>
            <a:ext cx="164592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Synapse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822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1097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640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AI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40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Azure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566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PetInsure360 (Deployed)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Medallion Lakehouse: Bronze → Silver → Gold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645920" cy="457200"/>
          </a:xfrm>
          <a:prstGeom prst="round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customers.json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1645920" cy="457200"/>
          </a:xfrm>
          <a:prstGeom prst="round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claims.jsonl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651760"/>
            <a:ext cx="1645920" cy="457200"/>
          </a:xfrm>
          <a:prstGeom prst="round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policies.csv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371600"/>
            <a:ext cx="1828800" cy="457200"/>
          </a:xfrm>
          <a:prstGeom prst="round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customers_bronze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011680"/>
            <a:ext cx="1828800" cy="457200"/>
          </a:xfrm>
          <a:prstGeom prst="round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claims_bronze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651760"/>
            <a:ext cx="1828800" cy="457200"/>
          </a:xfrm>
          <a:prstGeom prst="round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policies_bronze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1828800" cy="45720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customers_silver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011680"/>
            <a:ext cx="1828800" cy="45720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claims_enriched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651760"/>
            <a:ext cx="1828800" cy="45720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policies_valid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188720"/>
            <a:ext cx="1828800" cy="4114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customer_360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737360"/>
            <a:ext cx="1828800" cy="4114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claims_analytics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286000"/>
            <a:ext cx="1828800" cy="4114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monthly_kpis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834640"/>
            <a:ext cx="1828800" cy="4114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risk_scoring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1645920"/>
            <a:ext cx="164592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Synapse 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377440"/>
            <a:ext cx="1645920" cy="54864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Power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005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85450"/>
                </a:solidFill>
              </a:defRPr>
            </a:pPr>
            <a:r>
              <a:t>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1005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D7F32"/>
                </a:solidFill>
              </a:defRPr>
            </a:pPr>
            <a:r>
              <a:t>BRONZE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005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6464"/>
                </a:solidFill>
              </a:defRPr>
            </a:pPr>
            <a:r>
              <a:t>SILVER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1005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8860B"/>
                </a:solidFill>
              </a:defRPr>
            </a:pPr>
            <a:r>
              <a:t>GOLD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005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8D4"/>
                </a:solidFill>
              </a:defRPr>
            </a:pPr>
            <a:r>
              <a:t>CONSUME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AI Agent Pipeline (LangGraph)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371600" cy="73152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Claim</a:t>
            </a:r>
            <a:br/>
            <a:r>
              <a:t>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828800"/>
            <a:ext cx="1645920" cy="7315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Router</a:t>
            </a:r>
            <a:br/>
            <a:r>
              <a:t>Classify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97280"/>
            <a:ext cx="118872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737360"/>
            <a:ext cx="11887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Medium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377440"/>
            <a:ext cx="118872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Complex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371600"/>
            <a:ext cx="2103120" cy="1005840"/>
          </a:xfrm>
          <a:prstGeom prst="round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Bronze Agent</a:t>
            </a:r>
            <a:br/>
            <a:r>
              <a:t>Validate</a:t>
            </a:r>
            <a:br/>
            <a:r>
              <a:t>28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651760"/>
            <a:ext cx="2103120" cy="100584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Silver Agent</a:t>
            </a:r>
            <a:br/>
            <a:r>
              <a:t>Enrich</a:t>
            </a:r>
            <a:br/>
            <a:r>
              <a:t>8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931920"/>
            <a:ext cx="2103120" cy="10058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Gold Agent</a:t>
            </a:r>
            <a:br/>
            <a:r>
              <a:t>Decide</a:t>
            </a:r>
            <a:br/>
            <a:r>
              <a:t>8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2560320"/>
            <a:ext cx="18288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Decision</a:t>
            </a:r>
            <a:br/>
            <a:r>
              <a:t>Reasoning</a:t>
            </a:r>
            <a:br/>
            <a:r>
              <a:t>Fraud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8D4"/>
                </a:solidFill>
              </a:defRPr>
            </a:pPr>
            <a:r>
              <a:t>Same Claim, Different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731520"/>
            <a:ext cx="4572000" cy="91440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FRAUD-001: Hip Injury $1,600</a:t>
            </a:r>
            <a:br/>
            <a:r>
              <a:t>German Shepherd | 4th claim in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PetInsure360 - Rule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4114800" cy="4114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✓ Amount &lt; $5000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88920"/>
            <a:ext cx="4114800" cy="4114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✓ Policy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4114800" cy="4114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✓ Coverage 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94760"/>
            <a:ext cx="4114800" cy="4114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✓ No Duplicates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80560"/>
            <a:ext cx="411480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✓ APPROVED</a:t>
            </a:r>
            <a:br/>
            <a:r>
              <a:t>0.5ms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EIS-Dynamics - AI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286000"/>
            <a:ext cx="4572000" cy="4114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Analyze Pet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788920"/>
            <a:ext cx="4572000" cy="4114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Detect Pattern: 4 Claims in 12 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291840"/>
            <a:ext cx="4572000" cy="4114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Find: Hip Dysplasia Documented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794760"/>
            <a:ext cx="4572000" cy="4114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Flag: All Filed as 'Accident'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480560"/>
            <a:ext cx="45720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⚠ MANUAL REVIEW</a:t>
            </a:r>
            <a:br/>
            <a:r>
              <a:t>Fraud Score: 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KEY: Same data, same storage — AI catches patterns that rules miss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